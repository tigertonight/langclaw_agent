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1793f246d4329" /><Relationship Type="http://schemas.openxmlformats.org/officeDocument/2006/relationships/extended-properties" Target="/docProps/app.xml" Id="R2fb66a49f1634506" /><Relationship Type="http://schemas.openxmlformats.org/officeDocument/2006/relationships/officeDocument" Target="/ppt/presentation.xml" Id="R9ef8699f2f7d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424fba01554803"/>
  </p:sldMasterIdLst>
  <p:notesMasterIdLst>
    <p:notesMasterId xmlns:r="http://schemas.openxmlformats.org/officeDocument/2006/relationships" r:id="R5f562dbe1b5643f0"/>
  </p:notesMasterIdLst>
  <p:sldIdLst>
    <p:sldId xmlns:r="http://schemas.openxmlformats.org/officeDocument/2006/relationships" id="256" r:id="Rf861334ece3245da"/>
    <p:sldId xmlns:r="http://schemas.openxmlformats.org/officeDocument/2006/relationships" id="257" r:id="Rc66baf13cb194b59"/>
    <p:sldId xmlns:r="http://schemas.openxmlformats.org/officeDocument/2006/relationships" id="258" r:id="Ra814d27520a847bf"/>
    <p:sldId xmlns:r="http://schemas.openxmlformats.org/officeDocument/2006/relationships" id="259" r:id="Rb6eb94ac21af4b81"/>
    <p:sldId xmlns:r="http://schemas.openxmlformats.org/officeDocument/2006/relationships" id="260" r:id="R43d2e23812614d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24fba01554803" /><Relationship Type="http://schemas.openxmlformats.org/officeDocument/2006/relationships/theme" Target="/ppt/theme/theme1.xml" Id="R847578e6043143f1" /><Relationship Type="http://schemas.openxmlformats.org/officeDocument/2006/relationships/notesMaster" Target="/ppt/notesMasters/notesMaster1.xml" Id="R5f562dbe1b5643f0" /><Relationship Type="http://schemas.openxmlformats.org/officeDocument/2006/relationships/presProps" Target="/ppt/presProps.xml" Id="R9e3ffa54a27f4f81" /><Relationship Type="http://schemas.openxmlformats.org/officeDocument/2006/relationships/viewProps" Target="/ppt/viewProps.xml" Id="R30a9518f4c684bad" /><Relationship Type="http://schemas.openxmlformats.org/officeDocument/2006/relationships/tableStyles" Target="/ppt/tableStyles.xml" Id="R68f4dfe1996e4c1e" /><Relationship Type="http://schemas.openxmlformats.org/officeDocument/2006/relationships/slide" Target="/ppt/slides/slide1.xml" Id="Rf861334ece3245da" /><Relationship Type="http://schemas.openxmlformats.org/officeDocument/2006/relationships/slide" Target="/ppt/slides/slide2.xml" Id="Rc66baf13cb194b59" /><Relationship Type="http://schemas.openxmlformats.org/officeDocument/2006/relationships/slide" Target="/ppt/slides/slide3.xml" Id="Ra814d27520a847bf" /><Relationship Type="http://schemas.openxmlformats.org/officeDocument/2006/relationships/slide" Target="/ppt/slides/slide4.xml" Id="Rb6eb94ac21af4b81" /><Relationship Type="http://schemas.openxmlformats.org/officeDocument/2006/relationships/slide" Target="/ppt/slides/slide5.xml" Id="R43d2e2381261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540bc80d15c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993f9aceb4e3a" /><Relationship Type="http://schemas.openxmlformats.org/officeDocument/2006/relationships/notesMaster" Target="/ppt/notesMasters/notesMaster1.xml" Id="R89d30d1d7e96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7db9494304b5d" /><Relationship Type="http://schemas.openxmlformats.org/officeDocument/2006/relationships/notesMaster" Target="/ppt/notesMasters/notesMaster1.xml" Id="R6dc71aee744249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bcdfc31dc54628" /><Relationship Type="http://schemas.openxmlformats.org/officeDocument/2006/relationships/notesMaster" Target="/ppt/notesMasters/notesMaster1.xml" Id="R2d2b69d394f443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bae58674dc4874" /><Relationship Type="http://schemas.openxmlformats.org/officeDocument/2006/relationships/notesMaster" Target="/ppt/notesMasters/notesMaster1.xml" Id="R28f1cafc3fe040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fa1a8e74e4d3d" /><Relationship Type="http://schemas.openxmlformats.org/officeDocument/2006/relationships/notesMaster" Target="/ppt/notesMasters/notesMaster1.xml" Id="R75625671f4b9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e9029094c4ee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ed4cf7e1edb46dc" /><Relationship Type="http://schemas.openxmlformats.org/officeDocument/2006/relationships/slideLayout" Target="/ppt/slideLayouts/slideLayout2.xml" Id="R3d067fb89598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067fb89598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4ad54b30d441fb" /><Relationship Type="http://schemas.openxmlformats.org/officeDocument/2006/relationships/image" Target="/ppt/media/image.png" Id="R60c6ec1245124cfd" /><Relationship Type="http://schemas.openxmlformats.org/officeDocument/2006/relationships/notesSlide" Target="/ppt/notesSlides/notesSlide1.xml" Id="R784c1852abde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7a0a2d68140d2" /><Relationship Type="http://schemas.openxmlformats.org/officeDocument/2006/relationships/image" Target="/ppt/media/image2.png" Id="R2093c6d3d5664983" /><Relationship Type="http://schemas.openxmlformats.org/officeDocument/2006/relationships/notesSlide" Target="/ppt/notesSlides/notesSlide2.xml" Id="R4a878a20be7b47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a4ced050b4197" /><Relationship Type="http://schemas.openxmlformats.org/officeDocument/2006/relationships/image" Target="/ppt/media/image3.png" Id="R140c30588ec64a61" /><Relationship Type="http://schemas.openxmlformats.org/officeDocument/2006/relationships/notesSlide" Target="/ppt/notesSlides/notesSlide3.xml" Id="Ra92cc9efec2147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95066abc04803" /><Relationship Type="http://schemas.openxmlformats.org/officeDocument/2006/relationships/image" Target="/ppt/media/image4.png" Id="R40f27e6dced94043" /><Relationship Type="http://schemas.openxmlformats.org/officeDocument/2006/relationships/notesSlide" Target="/ppt/notesSlides/notesSlide4.xml" Id="Rd2f0c9a8db7c49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559ba42254615" /><Relationship Type="http://schemas.openxmlformats.org/officeDocument/2006/relationships/image" Target="/ppt/media/image5.png" Id="Rd11ac01460bc4dbb" /><Relationship Type="http://schemas.openxmlformats.org/officeDocument/2006/relationships/notesSlide" Target="/ppt/notesSlides/notesSlide5.xml" Id="Ra56513600b8f48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8AF8D-6E02-45C1-B510-3E00384E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6ec1245124cfd"/>
          <a:stretch xmlns:a="http://schemas.openxmlformats.org/drawingml/2006/main"/>
        </p:blipFill>
        <p:spPr>
          <a:xfrm xmlns:a="http://schemas.openxmlformats.org/drawingml/2006/main">
            <a:off x="6743700" y="1871531"/>
            <a:ext cx="4857750" cy="273393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A2EE6-ECDF-427F-AEC6-BB5175C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01 / 一句话定位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B00D4-F79B-4217-9A23-A0B298A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596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EnterpriseAgent 是垂类企业 Agent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F5FD0-CDE6-4A3C-B67D-94737EBD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58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不是单点聊天机器人，而是从渠道接入、上下文、工具治理、生成式 UI 到记忆演化的端到端平台。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DDA56-D6A8-4A72-A455-EC35BCC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61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A7B73-23CE-4CA1-B9F5-93B8A663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415CD-4138-4916-A85C-C942496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39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定位：把通用 Agent 能力产品化成交付平台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1BF25-1E37-4006-B80F-F009519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37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首个验证场景是汽车 4S 店，但真正资产是可复用 Runtime：路由、工具、权限、记忆、A2UI、DomainPack。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4F556-33DD-4D32-84BA-9EAEF99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A83C9-B958-497B-890F-175FD77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0A439-912D-4A7A-A4B1-5913356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路由 + 工具 + 决策 + 子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D87B4-167D-42E4-89B3-74D4017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B28A8-E3B3-4B36-86E8-628062F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Enterprise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FDA85-0147-4391-8EC9-60CAE6AC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多租户、权限、确认、审计、私有化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03A02-D595-4F8E-ACE5-8AD10EDE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C4BD0-B91C-4947-9744-E2DCEEB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Self Evolution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5C8D9-BC36-454B-B09A-AFA37410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从对话抽取记忆、实体、关系与业务词表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B7BB1-8D28-42E2-8E91-14BF0C3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E3A9-D801-4225-A5F3-402620E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rPr>
              <a:t>客户：拿来即用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42C18-302D-469B-B9AC-806F13B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48300"/>
            <a:ext cx="1485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D986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9B4C0-A4CF-4CA4-A9CA-C5FD2A3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05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rPr>
              <a:t>投资人：垂类可复制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BD231-1211-4B5E-AF7B-E3B56AB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48300"/>
            <a:ext cx="1676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339A6-FDD8-4D58-9E4B-39456382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05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工程：Runtime 可扩展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7AC11-DA8F-49A8-A1CB-5F222ED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资料口径：基于当前分支实现与用户提供的竞品对比材料整理</a:t>
            </a:r>
          </a:p>
        </p:txBody>
      </p:sp>
    </p:spTree>
    <p:extLst>
      <p:ext uri="{BB962C8B-B14F-4D97-AF65-F5344CB8AC3E}">
        <p14:creationId xmlns:p14="http://schemas.microsoft.com/office/powerpoint/2010/main" val="11882823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D7615-81B1-4556-A03D-11C01499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3c6d3d5664983"/>
          <a:stretch xmlns:a="http://schemas.openxmlformats.org/drawingml/2006/main"/>
        </p:blipFill>
        <p:spPr>
          <a:xfrm xmlns:a="http://schemas.openxmlformats.org/drawingml/2006/main">
            <a:off x="6305550" y="1634512"/>
            <a:ext cx="5429250" cy="305557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78A63-1B7D-4208-B7D7-66CB4126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02 / 产品对比：定位维度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DB87-3C7A-4B47-A94C-7704383C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596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对手是横向工具，我们是垂类交付平台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9B4D9-C8AD-4981-98B5-882BA7E7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58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GBrain、OpenClaw、Claude Code、Hermes 都解决一类通用能力；EnterpriseAgent 把这些能力组合进企业场景。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AF25-64D7-48C3-A786-EE07340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334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C7B4-4EB6-4250-9EEA-F84E5E1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B673E-1A41-4BF2-B2A7-E9FC124C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97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个人/团队记忆大脑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7F791-1B28-4AD5-BBC2-0748DA4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强在知识图谱与检索层，不是完整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A9F02-199E-41CA-BBD8-41D9722A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E48FF-E56E-47D0-B4BA-1E4574B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OpenClaw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39DC-39C0-4599-B2C6-2C8B39C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336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个人多渠道 AI 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BAF21-6A53-457D-9BB6-AC0E7C5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强在跨 IM 与本地优先，偏个人助手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BA430-0E6D-4993-B1F3-65C1738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DCA3C-43B9-4CD5-AB5A-5231681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5BAFE-CFCE-4F45-9046-418B6CB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575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开发者终端编码助手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FACEB-4DC3-41A9-B7C8-AF0AA42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强在代码场景，不覆盖业务流程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C0816-85C8-4DCC-AEB1-CB96766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2E36E-3610-4F30-96E9-E2D42C11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Hermes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4C5D0-8CD6-49A3-8BAA-91D72267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814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个人自学习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A68C1-C215-4A7A-9CA5-9CA6325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强在 self-improving loop，偏通用学习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366AE-18E0-4D4A-924E-4E843B0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B9DF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BBACE-8749-4A10-B44C-440198B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81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关键差异：我们不是再做一个通用助手，而是把 Runtime、记忆、渠道、自演化和企业权限包装成可交付产品。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DBEB1-5082-4D76-8A48-357A7497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76900"/>
            <a:ext cx="1162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62F37-33E7-4842-965A-9B10D621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7340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rPr>
              <a:t>垂类场景化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AFEE3-75DE-4420-8B1D-532FCCD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769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01637-C2B4-41EA-8639-CB0EAC0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340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企业接入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37B85-79CB-44B9-8497-EE91208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769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D986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9BBC4-7347-4235-BF39-4B5893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34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rPr>
              <a:t>私有化部署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08688-D23E-42A2-B38F-FDD87344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资料口径：基于当前分支实现与用户提供的竞品对比材料整理</a:t>
            </a:r>
          </a:p>
        </p:txBody>
      </p:sp>
    </p:spTree>
    <p:extLst>
      <p:ext uri="{BB962C8B-B14F-4D97-AF65-F5344CB8AC3E}">
        <p14:creationId xmlns:p14="http://schemas.microsoft.com/office/powerpoint/2010/main" val="14724877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A3DC9-AC0E-4CD6-A62B-829BB6D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c30588ec64a61"/>
          <a:stretch xmlns:a="http://schemas.openxmlformats.org/drawingml/2006/main"/>
        </p:blipFill>
        <p:spPr>
          <a:xfrm xmlns:a="http://schemas.openxmlformats.org/drawingml/2006/main">
            <a:off x="8210550" y="1782881"/>
            <a:ext cx="2857500" cy="178728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58EFB-DB4E-4515-B5D2-6D820A01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03 / 能力矩阵：客户与投资人视角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4C4AF-95A3-483C-AE95-3075AC4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596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核心卖点是“能力合集 + 企业化封装”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483F4-ECAE-4F7A-B5DB-F4EE47FC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58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单点能力有人更强，但很少有产品同时具备 Runtime、企业治理、垂类工作流、生成式 UI 与自演化。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1439-39B6-4AFE-A80B-6AA97C18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29B2D-B0A0-4D8D-BC71-73D59D7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AC8E-3C94-4EE9-9CD9-1FF6284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6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1C0A5-6592-4635-8453-FBD18E0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954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EnterpriseAgent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21B4E-011A-4601-BF3A-6D94F3B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C3E06-01A6-4BC4-8550-0137043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GBrain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BA4C5-9232-4BD8-9052-5C8C1E6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6C5A1-4BD3-4C95-92DE-8CAB793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954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OpenClaw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A959B-DBD1-4905-8803-6B65D16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ACD62-46AB-4FC0-8F76-211F205C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954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73AA7-BBD0-41CC-91B2-3FBA7F3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3B153-9948-42E7-B9BB-800FF0E4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954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Hermes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CABD0-6027-4116-BEDB-42D6A772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4C7C8-0D69-40C6-97F8-08439E6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479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0FC31-70D4-4C7A-8F19-D6E64ED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A21D1-F932-4163-8585-795084B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2479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完整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67AB2-76CF-4B53-9583-17F1456A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FF50D-F820-4AB8-81FF-B023E7CC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479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仅记忆层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B0600-80FA-4998-A360-919D648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438E4-B93F-4502-926A-6BBA224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81CC0-0062-4813-820B-50C03D29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526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43A53-14AA-4EDE-B661-7FB8FEEE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编码场景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50DA4-2BC6-412B-9DDF-8C22D926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E5112-53FD-430A-B9A3-4CF58564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479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完整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BCC69-61C2-4B3A-9BBB-D1BE2EDD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E44F0-8D0B-46D5-87DE-E0FA11FF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多租户/企业权限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05851-4391-4C6A-A728-C385D746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172BE-45E8-4AC3-9D8F-EA645BE5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47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business_id 隔离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832D1-28AF-4087-81E1-58F62BD6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68855F-D9CC-452E-B1E6-FDF9E5C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479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团队偏弱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1B934-432B-4C87-8DEC-8EBF131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C8B1D0-80A5-4B7A-AA2C-369E4A9D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47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单用户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34AC1E-F468-475A-BE58-8CBA091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527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ADB874-B897-4D91-85E4-7AC77DC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47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单开发者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C9EE95-3FE5-4943-B651-0983BCF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77240C-CF9F-4036-9CEE-2A4A2C8F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479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单用户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6B195-C2F4-44AB-ACFE-214A93A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63DD47-D8C9-4CFE-871F-5D0D277E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 IM 渠道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D13A49-7315-4CF0-B5F4-04F49633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2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B481F8-96C3-42EA-B110-B4679CB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480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6 渠道适配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B85B72-48B1-4B62-B159-FA44A8B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7C11CA-8B85-401F-BF5F-6478753A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480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E17B95-932A-4095-AEBA-2D69C12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2AF468-9613-4C36-8B43-A89A015A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海外为主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CF2C07-214B-4105-83A4-481A8B7D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527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1A4311-0980-4BBD-99ED-80BF66A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480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96FFEB-4183-4AB5-9342-73484B1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057EBD-88DF-426E-AE87-EB2CE5B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480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海外为主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9CAC21-5086-4384-8FA4-5B9C688B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EE484-22B8-4C42-8C1F-650DA73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480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垂类工具/工作流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E33874-74A9-4588-9AA1-B594822F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9C4DEA-5C87-455F-94FC-FBC647FA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DomainPack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B4F64A-0CBB-47F9-BC33-A1E8CFFF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58E228-E238-4483-8102-5588C7E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480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CD59B2-4454-4D3A-985E-1410CAB3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72FBF3-4E5B-41F4-8D7F-B76DB3A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B67A2A-E059-44EF-AA32-0DE88F2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3993D8-6405-4424-A8DC-D74914D3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480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D71C93-EAD1-4CD6-B0F2-CE9B3DB4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33053F-5778-49A7-818D-8241C41F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480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FFFF82-5AF6-4572-B4E0-52DBDEF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523AEF-95E9-4783-B821-310E3BB7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481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长期记忆+图谱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6E8525-7680-40FC-81B4-1452392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DEAC3D-33F9-4DB5-BE58-B2BC7FBE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481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memory-service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622590-702B-49CF-BD25-192EA59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ECAF61-5347-4DA4-9F66-77B1B38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481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F336B3-30F8-4845-A1F8-D753DFFF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8F079D-D928-4781-9430-581F32A8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弱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973F12-B4D3-4011-9BF1-6D308C2F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528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6C02F8-E15E-45F1-8CDA-6587933D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481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弱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B6268C-F64A-43C5-8C45-E51E31A0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EABC04-1240-4A6B-8688-26D89E7D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481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8F1E78-4C0D-466E-AFD5-E04597F8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232726-610D-466E-84CD-211688A2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481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Plan Mode/门禁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155143-BFAA-4CFF-8244-6D2251A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529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5CFA14-BB72-4392-8634-C6F7FDB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481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三级策略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AADC7B-0653-4DFA-A847-EF118DA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C5E2C1-9280-4668-8166-250896B1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481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AC6438-90DD-4CE5-89EF-CC96942A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8CA85A-87F7-4998-8A90-6F72B15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48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沙箱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5C684E-9951-459D-B59F-D1C6BB7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A70A83-9EDE-4A78-B246-8E65A2C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48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强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7612CE-A376-496D-987D-770DE0A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CED207F-9332-4503-8042-D4021085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481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798B5FD-9974-4CDC-9DB7-393779A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8720472-9AE6-49F3-A0C7-BB56768D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48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A2UI 流式 UI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90DA61D-7CB7-4BC2-AEFB-B6C2881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529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B32094-28BA-42AC-95FB-2BA4A2FE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482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6 Surface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6398831-ACA8-4E1B-924B-7D91A98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1F0A32-1A1B-4FE2-8332-AC420D1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DBC906-B4F0-42AC-A8C9-A0CD6F6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529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7BEC098-ED80-430D-A9E5-00C86D9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Live Canvas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6C273C5-AFE7-4CC9-907A-2923E1C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5295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2B1CEB-B250-4C26-B3DF-54AF468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648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A65776F-28AA-4E65-A11D-92C23ACD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53EFDA-D5A7-4E74-A78C-CB3CD27A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482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FF5B53-4E10-43AB-934E-B047571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EC288E-0A74-4DFA-83BE-486AE42D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私有化部署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8CF25D-0D9F-4B70-9F7D-D91DAF8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530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7DAF74-AD84-4BF1-939A-D6BA5C2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482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✓ 企业私有化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0194F4-2FA4-4C75-A494-D900076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39DC3B-87C9-4C74-A1C5-04856A6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482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自托管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293026B-66B0-4B52-B8DF-D1B6D32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530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BBB5696-F053-4FBB-BA94-4C8D442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本地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A413A3-9C9C-450E-9534-822B4E66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53000"/>
            <a:ext cx="110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401A45-4C98-4EBD-A7BE-E878399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482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本地 CLI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7D047E3-3FF8-4ACA-AAC0-4E987B0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F725414-7DFA-459C-904B-6E9C85CC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482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VPS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9949CF-DD2D-46FD-8FE0-BE2746D8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1091CC-9819-409E-B58E-8F2A6AF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结论：我们的优势不是单项跑分，而是把四类能力工程化为企业可上线的闭环。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E3DAF00-A667-4E30-84C9-2B1C46E5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资料口径：基于当前分支实现与用户提供的竞品对比材料整理</a:t>
            </a:r>
          </a:p>
        </p:txBody>
      </p:sp>
    </p:spTree>
    <p:extLst>
      <p:ext uri="{BB962C8B-B14F-4D97-AF65-F5344CB8AC3E}">
        <p14:creationId xmlns:p14="http://schemas.microsoft.com/office/powerpoint/2010/main" val="5064829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B2C77-D1E3-4618-AC70-A18BF31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27e6dced94043"/>
          <a:stretch xmlns:a="http://schemas.openxmlformats.org/drawingml/2006/main"/>
        </p:blipFill>
        <p:spPr>
          <a:xfrm xmlns:a="http://schemas.openxmlformats.org/drawingml/2006/main">
            <a:off x="6191250" y="1767862"/>
            <a:ext cx="5429250" cy="305557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38BF7-E846-4720-9C87-B7AAE55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04 / 企业级落地能力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97CB4-4214-4FAC-A690-2EB1930A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596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 Demo 到生产，关键是治理与接入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EF1EC-37FB-441A-BD20-4D2A5303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58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B 端不是“能回答”就够了，还要身份、权限、审计、私有化、故障恢复，以及企业 IM 和工作流入口。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992AC-B1B7-45CA-BF5D-0480D23C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2B43B-F065-4543-BC2B-D07E6FB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8997-7C6D-4F35-B103-AE391DA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32B8B-CBBF-4B80-A7BA-E9C18D0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Web / 企微 / 飞书 / 钉钉 / Webhook / Cron 统一进入 Query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423BE-FCA1-4D61-B31D-89593AA9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A2520-C42A-4F33-B526-5D0E524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FF042-76B7-4480-840A-9DFB195E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权限门禁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CE82B-0098-408C-8A90-FA259CC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Tool Governance：权限检查、确认动作、timeout、retry、输出校验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5EAD3-F1F0-4C03-BD09-BAFA1AA1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54DE1-F600-4E9E-B149-0133967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7E5E-6848-4F65-9187-620EAFF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租户隔离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92825-E1E6-4121-911A-952732B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business_id / tenant namespace，避免跨租户记忆、surface 和工具结果混用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D381C-58FD-486A-ABA9-1E51DCAA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05A5D-2775-48FB-AD98-DA8BC7A5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09A4E-7A5A-446C-B410-9C76126F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运维闭环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C4AD5-3B1D-47C3-9231-A86165E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health / ready / metrics / token 轮换 / 备份恢复 / 离线队列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F26BB-72BD-41E7-B270-6A0D604E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514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EEC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EE7D9-333B-489E-A857-95E103B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A4A0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7A4A00"/>
                </a:solidFill>
                <a:latin typeface="PingFang SC"/>
                <a:ea typeface="PingFang SC"/>
                <a:cs typeface="PingFang SC"/>
              </a:rPr>
              <a:t>客户卖点：企业不需要先把通用 Agent 二次工程化，平台已经把安全、接入、权限和运维边界放进 Runtime。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276F8-2B95-4E6E-B8A4-71BEAE7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102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095BB-4A74-468E-9C24-2999684A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867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rPr>
              <a:t>私有化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2FA72-337E-4146-80C1-296069B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102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16B4E-7ACD-4702-A9DF-E89F462B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67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多租户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F6BF8-6515-497C-BCCE-751F51C7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102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D986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5BBAE-1921-4473-ABAD-6AA995A0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861C"/>
                </a:solidFill>
                <a:latin typeface="PingFang SC"/>
                <a:ea typeface="PingFang SC"/>
                <a:cs typeface="PingFang SC"/>
              </a:rPr>
              <a:t>可审计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281B7-5D59-46ED-9006-33D2C72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资料口径：基于当前分支实现与用户提供的竞品对比材料整理</a:t>
            </a:r>
          </a:p>
        </p:txBody>
      </p:sp>
    </p:spTree>
    <p:extLst>
      <p:ext uri="{BB962C8B-B14F-4D97-AF65-F5344CB8AC3E}">
        <p14:creationId xmlns:p14="http://schemas.microsoft.com/office/powerpoint/2010/main" val="8633308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C475E-0396-4674-8D9E-632399F2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ac01460bc4dbb"/>
          <a:stretch xmlns:a="http://schemas.openxmlformats.org/drawingml/2006/main"/>
        </p:blipFill>
        <p:spPr>
          <a:xfrm xmlns:a="http://schemas.openxmlformats.org/drawingml/2006/main">
            <a:off x="6400800" y="1750629"/>
            <a:ext cx="5219700" cy="293764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61C8-E1D7-4656-9F70-E6BF223C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5F62"/>
                </a:solidFill>
                <a:latin typeface="PingFang SC"/>
                <a:ea typeface="PingFang SC"/>
                <a:cs typeface="PingFang SC"/>
              </a:rPr>
              <a:t>05 / 自演化与复制路径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EEEEE-49F7-407A-B221-7259ED7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596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越用越懂业务，最终沉淀成可复制垂类引擎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A2AC1-D3B8-44A8-8365-52ED2519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58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EvolutionRuntime 从对话中抽取 memory、entities、relations 和业务词表；DomainPack 把行业能力封装为可迁移资产。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1EB07-3F74-4B0C-9595-9D2FF52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52197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A06A-A845-4731-89B8-00DA3ECD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9B426-993A-4E57-BB15-131B442B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短期：用垂类壁垒挡住通用工具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AD189-52BA-4049-B25F-BED0B851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4 个对手都不会主动深做汽车 4S 店；我们先用场景包、企业 IM 和流程模板完成第一批落地。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3A0EC-8EF9-4D6A-946A-044B60A6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52197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596DB-E83F-4500-980E-ADE17A10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BD5FF-8A2A-4083-B67A-E8473CD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中期：沉淀数据与流程壁垒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98E6E-1230-40E6-ACA4-8C3AF1C2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记忆、实体图谱、业务词表、审批动作和自动化模板会随客户使用持续增厚。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0A791-9C88-4493-A613-93D27169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2197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2037C-AB33-4C2F-A49A-64542C2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101AD-4E76-4E3A-9061-981A42B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长期：从 4S 店复制到更多门店型行业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EE17C-B2BF-4953-93CF-CA3E211C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门店 + 导购 + CRM + 售后流程的行业，都可以通过 DomainPack 复用 Runtime。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F2DFB-D620-470F-9290-9997E03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5219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1C2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683EE-3C78-42EF-BAC6-20C75E6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480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4B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A4B00"/>
                </a:solidFill>
                <a:latin typeface="PingFang SC"/>
                <a:ea typeface="PingFang SC"/>
                <a:cs typeface="PingFang SC"/>
              </a:rPr>
              <a:t>诚实边界：品牌生态、检索基准、自演化深度仍需真实客户数据验证。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44161-333B-48DC-B008-913F691C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72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EBF66-0824-4795-816A-BE848A24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8293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F8B8D"/>
                </a:solidFill>
                <a:latin typeface="PingFang SC"/>
                <a:ea typeface="PingFang SC"/>
                <a:cs typeface="PingFang SC"/>
              </a:rPr>
              <a:t>先打透一个垂类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ED0DD-978B-406E-B192-9A40CB3D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7215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72C27-B0BD-433B-A956-937BAD49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293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再复制到 N 个行业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B31F3-BAAE-4E77-A293-C15B550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资料口径：基于当前分支实现与用户提供的竞品对比材料整理</a:t>
            </a:r>
          </a:p>
        </p:txBody>
      </p:sp>
    </p:spTree>
    <p:extLst>
      <p:ext uri="{BB962C8B-B14F-4D97-AF65-F5344CB8AC3E}">
        <p14:creationId xmlns:p14="http://schemas.microsoft.com/office/powerpoint/2010/main" val="76237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2026-05-28T09:02:50.0260000Z</dcterms:created>
  <dcterms:modified xsi:type="dcterms:W3CDTF">2026-05-28T09:02:50.0260000Z</dcterms:modified>
</coreProperties>
</file>